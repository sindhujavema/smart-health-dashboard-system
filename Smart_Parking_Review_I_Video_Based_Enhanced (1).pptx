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33481" y="1242636"/>
            <a:ext cx="3925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>
                <a:solidFill>
                  <a:srgbClr val="0070C0"/>
                </a:solidFill>
              </a:rPr>
              <a:t>IoT PROJECT – REVIEW-I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1040" y="1788233"/>
            <a:ext cx="10789920" cy="530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437"/>
                </a:solidFill>
                <a:latin typeface="Aptos"/>
              </a:defRPr>
            </a:pPr>
            <a:r>
              <a:t>Project: IoT-Based Smart Parking Management System</a:t>
            </a:r>
          </a:p>
          <a:p>
            <a:pPr>
              <a:defRPr sz="2000">
                <a:solidFill>
                  <a:srgbClr val="142437"/>
                </a:solidFill>
                <a:latin typeface="Aptos"/>
              </a:defRPr>
            </a:pPr>
            <a:r>
              <a:t>Automated Slot Detection, Gate Control &amp; Real-Time Availability</a:t>
            </a:r>
          </a:p>
          <a:p>
            <a:pPr>
              <a:defRPr sz="2000">
                <a:solidFill>
                  <a:srgbClr val="142437"/>
                </a:solidFill>
                <a:latin typeface="Aptos"/>
              </a:defRPr>
            </a:pPr>
            <a:r>
              <a:t>Programme: MCA		Year: 2		Semester: III</a:t>
            </a:r>
          </a:p>
          <a:p>
            <a:pPr>
              <a:defRPr sz="2000">
                <a:solidFill>
                  <a:srgbClr val="142437"/>
                </a:solidFill>
                <a:latin typeface="Aptos"/>
              </a:defRPr>
            </a:pPr>
            <a:r>
              <a:t>Review-I: 24-08-2026 to 28-08-2026</a:t>
            </a:r>
          </a:p>
          <a:p>
            <a:pPr>
              <a:defRPr sz="2000">
                <a:solidFill>
                  <a:srgbClr val="142437"/>
                </a:solidFill>
                <a:latin typeface="Aptos"/>
              </a:defRPr>
            </a:pPr>
            <a:r>
              <a:t>Student Team:</a:t>
            </a:r>
          </a:p>
          <a:p>
            <a:pPr>
              <a:defRPr sz="2000">
                <a:solidFill>
                  <a:srgbClr val="142437"/>
                </a:solidFill>
                <a:latin typeface="Aptos"/>
              </a:defRPr>
            </a:pPr>
            <a:r>
              <a:t>1.______________________________</a:t>
            </a:r>
          </a:p>
          <a:p>
            <a:pPr>
              <a:defRPr sz="2000">
                <a:solidFill>
                  <a:srgbClr val="142437"/>
                </a:solidFill>
                <a:latin typeface="Aptos"/>
              </a:defRPr>
            </a:pPr>
            <a:r>
              <a:t>2.______________________________</a:t>
            </a:r>
          </a:p>
          <a:p>
            <a:pPr>
              <a:defRPr sz="2000">
                <a:solidFill>
                  <a:srgbClr val="142437"/>
                </a:solidFill>
                <a:latin typeface="Aptos"/>
              </a:defRPr>
            </a:pPr>
            <a:r>
              <a:t>3.______________________________</a:t>
            </a:r>
          </a:p>
          <a:p>
            <a:pPr>
              <a:defRPr sz="2000">
                <a:solidFill>
                  <a:srgbClr val="142437"/>
                </a:solidFill>
                <a:latin typeface="Aptos"/>
              </a:defRPr>
            </a:pPr>
            <a:r>
              <a:t>4.______________________________</a:t>
            </a:r>
          </a:p>
        </p:txBody>
      </p:sp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1243584"/>
            <a:ext cx="12191695" cy="56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1600200"/>
            <a:ext cx="6492240" cy="4480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96596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4AEBE"/>
                </a:solidFill>
                <a:latin typeface="Aptos"/>
              </a:defRPr>
            </a:pPr>
            <a:r>
              <a:t>IoT-BASED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395728"/>
            <a:ext cx="5212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12233A"/>
                </a:solidFill>
                <a:latin typeface="Aptos"/>
              </a:defRPr>
            </a:pPr>
            <a:r>
              <a:t>SMART PARKING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063240"/>
            <a:ext cx="5394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9232D"/>
                </a:solidFill>
                <a:latin typeface="Aptos"/>
              </a:defRPr>
            </a:pPr>
            <a:r>
              <a:t>Real-Time Slot Detection</a:t>
            </a:r>
            <a:br/>
            <a:r>
              <a:t>&amp; Automated Gate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6052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5F6E7D"/>
                </a:solidFill>
                <a:latin typeface="Aptos"/>
              </a:defRPr>
            </a:pPr>
            <a:r>
              <a:t>Review–I  •  MCA  •  Semester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1600200"/>
            <a:ext cx="4251960" cy="4480560"/>
          </a:xfrm>
          <a:prstGeom prst="round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1874519"/>
            <a:ext cx="3566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LIVE PARKING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2423160"/>
            <a:ext cx="1325880" cy="1005840"/>
          </a:xfrm>
          <a:prstGeom prst="roundRect">
            <a:avLst/>
          </a:prstGeom>
          <a:solidFill>
            <a:srgbClr val="37465C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253288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SLOT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89864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DC4646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423160"/>
            <a:ext cx="1325880" cy="1005840"/>
          </a:xfrm>
          <a:prstGeom prst="roundRect">
            <a:avLst/>
          </a:prstGeom>
          <a:solidFill>
            <a:srgbClr val="37465C"/>
          </a:solidFill>
          <a:ln>
            <a:solidFill>
              <a:srgbClr val="14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19" y="253288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SLOT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289864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AA69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3840480"/>
            <a:ext cx="1325880" cy="1005840"/>
          </a:xfrm>
          <a:prstGeom prst="roundRect">
            <a:avLst/>
          </a:prstGeom>
          <a:solidFill>
            <a:srgbClr val="37465C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79" y="395020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SLOT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31596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DC4646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19" y="3840480"/>
            <a:ext cx="1325880" cy="1005840"/>
          </a:xfrm>
          <a:prstGeom prst="roundRect">
            <a:avLst/>
          </a:prstGeom>
          <a:solidFill>
            <a:srgbClr val="37465C"/>
          </a:solidFill>
          <a:ln>
            <a:solidFill>
              <a:srgbClr val="14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19" y="395020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SLOT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19" y="431596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AA69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5230368"/>
            <a:ext cx="1508760" cy="16459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4892040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7000"/>
                </a:solidFill>
                <a:latin typeface="Aptos"/>
              </a:defRPr>
            </a:pPr>
            <a:r>
              <a:t>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3349" y="1562487"/>
            <a:ext cx="61304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800" b="1" kern="0" dirty="0">
                <a:effectLst/>
                <a:latin typeface="+mn-lt"/>
                <a:ea typeface="Times New Roman" panose="02020603050405020304" pitchFamily="18" charset="0"/>
              </a:rPr>
              <a:t>Project Abstract </a:t>
            </a:r>
            <a:endParaRPr lang="en-IN" sz="1800" b="1" kern="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b="1" dirty="0"/>
              <a:t>Introduction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Problem Statement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Project Objectives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Proposed IoT Modules / Functionalities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Hardware Requirements &amp; Software Requirements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Input and Expected Output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Design Methodology: Algorithm &amp; System Flow &amp; Flowchart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Implementation Progress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Completed Module Demonstration &amp; Sample Output (if any)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Individual Team Member Contribution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Challenges Identified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Proposed Solutions </a:t>
            </a: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48132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12233A"/>
                </a:solidFill>
                <a:latin typeface="Aptos"/>
              </a:defRPr>
            </a:pPr>
            <a:r>
              <a:t>REVIEW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5669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From problem → prototype → measurable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331720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4088" y="2450591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377439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2350008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Project Abstract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350008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The idea in one 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889503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8" y="3008375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2935223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" y="2907791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907791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Why smart parking matters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447287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04088" y="3566159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3493007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3465575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465575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What the system solves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005072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4088" y="4123944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4050791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4023359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023359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What success looks like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562856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4088" y="4681728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08576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1" y="4581144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IoT Modules / Functionalities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581144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Sensors • control • display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0640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04088" y="5239512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5166359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1" y="5138927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Hardware &amp; Software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5138927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Build stack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5678424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04088" y="5797296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5724144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1" y="5696712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Input &amp; Expected 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0" y="5696712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Signals → decisions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2331720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19088" y="2450591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9944" y="2377439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2350008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Design Methodology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2350008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Algorithm • flow • architecture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9360" y="2889503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19088" y="3008375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9944" y="2935223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2907791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Implementation Progress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21240" y="2907791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What is completed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3447287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419088" y="3566159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9944" y="3493007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48272" y="3465575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Demonstration &amp; Output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3465575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Working prototype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4005072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19088" y="4123944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9944" y="4050791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48272" y="4023359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Team Contribution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21240" y="4023359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Who did what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09360" y="4562856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419088" y="4681728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9944" y="4608576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48272" y="4581144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Challenges Identified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21240" y="4581144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09360" y="5120640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419088" y="5239512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9944" y="5166359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48272" y="5138927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Proposed Solutions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21240" y="5138927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How we improve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309360" y="5678424"/>
            <a:ext cx="5257800" cy="43891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419088" y="5797296"/>
            <a:ext cx="201168" cy="201168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9944" y="5724144"/>
            <a:ext cx="228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48272" y="5696712"/>
            <a:ext cx="3154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2233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21240" y="5696712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5F6E7D"/>
                </a:solidFill>
                <a:latin typeface="Aptos"/>
              </a:defRPr>
            </a:pPr>
            <a:r>
              <a:t>Impact &amp; next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Project Abstract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 compact view of the proposed smart parking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48840"/>
            <a:ext cx="64008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The system automates vehicle entry, exit and slot counting using sensors and a microcontroller.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IR sensors detect vehicle movement; Arduino processes the event and controls a servo gate.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148840"/>
            <a:ext cx="64008" cy="32461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SYSTEM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An LCD gives immediate feedback about parking availability.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The design reduces manual checking, waiting time and errors in basic parking management.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PROJECT ABSTRACT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One parking decision, made automatically.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2514600"/>
            <a:ext cx="3429000" cy="20574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2514600"/>
            <a:ext cx="64008" cy="205740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2606040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2953512"/>
            <a:ext cx="3108960" cy="1527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Sensors identify vehicle presence and slot status.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2587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4AEBE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2514600"/>
            <a:ext cx="3429000" cy="20574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34840" y="2514600"/>
            <a:ext cx="64008" cy="2057400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6008" y="2606040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36008" y="2953512"/>
            <a:ext cx="3108960" cy="1527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Controller checks availability before access.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3488" y="2587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2514600"/>
            <a:ext cx="3429000" cy="20574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2514600"/>
            <a:ext cx="64008" cy="2057400"/>
          </a:xfrm>
          <a:prstGeom prst="rect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2606040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0768" y="2953512"/>
            <a:ext cx="3108960" cy="1527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Gate opens/closes and display updates instantly.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28248" y="2587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AA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0749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4AEBE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507492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03320" y="50749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69BE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507492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0749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7AA69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Why parking needs a smarter, faster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48840"/>
            <a:ext cx="64008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Traditional parking depends on manual observation and drivers searching for free spaces.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A sensor-based system can detect occupancy and update availability in real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148840"/>
            <a:ext cx="64008" cy="32461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SYSTEM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The prototype combines sensing, control, display and gate automation in one workflow.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It provides a foundation for future cloud/mobile/AI-enabled smart parking.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Transforming parking from search-and-wait to sense-and-act.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514600"/>
            <a:ext cx="3383280" cy="224028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2514600"/>
            <a:ext cx="64008" cy="224028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2606040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Traditional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2953512"/>
            <a:ext cx="3063240" cy="1709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Manual checking wastes time and creates uncertainty.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4448" y="2587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7000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59" y="2514600"/>
            <a:ext cx="3383280" cy="224028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80559" y="2514600"/>
            <a:ext cx="64008" cy="224028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7" y="2606040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Smart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7" y="2953512"/>
            <a:ext cx="3063240" cy="1709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Sensors provide live occupancy information.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3488" y="2587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4AEBE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2514600"/>
            <a:ext cx="3383280" cy="224028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2514600"/>
            <a:ext cx="64008" cy="2240280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2606040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Connected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0768" y="2953512"/>
            <a:ext cx="3063240" cy="1709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IoT-ready architecture can support dashboards and alerts.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2587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25780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SMART PARKING = REAL-TIME VISIBILITY + AUTOMATED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The core parking-management problems addressed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48840"/>
            <a:ext cx="64008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Drivers spend time searching for available spaces.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Manual counting can become inaccurate when vehicles enter and leave quickly.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148840"/>
            <a:ext cx="64008" cy="32461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SYSTEM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Gate operation may require human intervention.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There is no instant, visible indication of remaining slots in a basic parking setup.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Parking congestion is often a visibility problem.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468880"/>
            <a:ext cx="5166360" cy="123444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2468880"/>
            <a:ext cx="64008" cy="1234440"/>
          </a:xfrm>
          <a:prstGeom prst="rect">
            <a:avLst/>
          </a:prstGeom>
          <a:solidFill>
            <a:srgbClr val="D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256032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2907792"/>
            <a:ext cx="48463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Drivers spend time searching for vacant spaces.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7528" y="25420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DC46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2468880"/>
            <a:ext cx="5166360" cy="123444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468880"/>
            <a:ext cx="64008" cy="123444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7" y="256032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7" y="2907792"/>
            <a:ext cx="48463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Manual monitoring is slow and error-prone.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99648" y="25420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700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977639"/>
            <a:ext cx="5166360" cy="123444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3977639"/>
            <a:ext cx="64008" cy="1234440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4069079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4416552"/>
            <a:ext cx="48463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No immediate indication of slot availability.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7528" y="4050791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3977639"/>
            <a:ext cx="5166360" cy="123444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977639"/>
            <a:ext cx="64008" cy="1234440"/>
          </a:xfrm>
          <a:prstGeom prst="rect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4807" y="4069079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7" y="4416552"/>
            <a:ext cx="48463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Uncontrolled entry can increase internal congestion.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050791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AA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What the prototype is designed to achieve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48840"/>
            <a:ext cx="64008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Detect vehicles automatically at entry and exit.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Open the gate only when a parking slot is available.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Maintain and display the number of free slots.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148840"/>
            <a:ext cx="64008" cy="32461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SYSTEM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Close the gate automatically after the vehicle passes.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Create a scalable base for IoT, mobile and AI-based enhancements.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Design goals expressed as measurable actions.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42316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2423160"/>
            <a:ext cx="64008" cy="105156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251460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AUTO-DETECT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286207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Identify occupied / available slots.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242316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2423160"/>
            <a:ext cx="64008" cy="1051560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7" y="251460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LIVE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7" y="286207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Show current availability to users.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749039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3749039"/>
            <a:ext cx="64008" cy="1051560"/>
          </a:xfrm>
          <a:prstGeom prst="rect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3840479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AUTO-GATE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418795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Control access using a servo barrier.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3749039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749039"/>
            <a:ext cx="64008" cy="105156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7" y="3840479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LESS 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4807" y="418795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Reduce unnecessary circulation inside parking.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Proposed IoT Modules / Functionalities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The system as connected functional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2860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286000"/>
            <a:ext cx="64008" cy="182880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404872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788920"/>
            <a:ext cx="16916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IR sensors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3957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962A0"/>
                </a:solidFill>
              </a:defRPr>
            </a:pPr>
            <a:r>
              <a:t>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22860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88920" y="2286000"/>
            <a:ext cx="64008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53512" y="2404872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3512" y="2788920"/>
            <a:ext cx="16916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Arduino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3957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600"/>
                </a:solidFill>
              </a:defRPr>
            </a:pPr>
            <a:r>
              <a:t>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22860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83480" y="2286000"/>
            <a:ext cx="64008" cy="18288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48072" y="2404872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8072" y="2788920"/>
            <a:ext cx="16916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Servo motor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3957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8B5E"/>
                </a:solidFill>
              </a:defRPr>
            </a:pPr>
            <a:r>
              <a:t>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22860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78040" y="2286000"/>
            <a:ext cx="64008" cy="18288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1" y="2404872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631" y="2788920"/>
            <a:ext cx="16916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I2C LCD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19" y="23957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3737"/>
                </a:solidFill>
              </a:defRPr>
            </a:pPr>
            <a:r>
              <a:t>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72600" y="22860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72600" y="2286000"/>
            <a:ext cx="64008" cy="182880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37192" y="2404872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7192" y="2788920"/>
            <a:ext cx="16916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Cloud /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23957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42437"/>
                </a:solidFill>
              </a:defRPr>
            </a:pPr>
            <a: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526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Decision &amp; Slot Counter — Arduino updates available-slot count.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Gate Automation — Servo motor opens/closes the barrier.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User Display — LCD shows welcome/status/slots remaining.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Future Connectivity — cloud/app analytics can be added without changing the basic logic.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IoT MODULES / FUNCTIONALITIES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A modular architecture makes the prototype easy to extend.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2514600"/>
            <a:ext cx="1965960" cy="20574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276148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07592" y="27614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" y="340156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233A"/>
                </a:solidFill>
                <a:latin typeface="Aptos"/>
              </a:defRPr>
            </a:pPr>
            <a:r>
              <a:t>Vehicle / Slot Sensors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" y="4005072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E7D"/>
                </a:solidFill>
                <a:latin typeface="Aptos"/>
              </a:defRPr>
            </a:pPr>
            <a:r>
              <a:t>Detect presence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62072" y="2514600"/>
            <a:ext cx="1965960" cy="20574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575304" y="2761488"/>
            <a:ext cx="502920" cy="502920"/>
          </a:xfrm>
          <a:prstGeom prst="ellipse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75304" y="27614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26664" y="340156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233A"/>
                </a:solidFill>
                <a:latin typeface="Aptos"/>
              </a:defRPr>
            </a:pPr>
            <a:r>
              <a:t>Arduino Controller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26664" y="4005072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E7D"/>
                </a:solidFill>
                <a:latin typeface="Aptos"/>
              </a:defRPr>
            </a:pPr>
            <a:r>
              <a:t>Process sensor signals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29784" y="2514600"/>
            <a:ext cx="1965960" cy="20574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843016" y="2761488"/>
            <a:ext cx="502920" cy="50292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43016" y="27614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94376" y="340156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233A"/>
                </a:solidFill>
                <a:latin typeface="Aptos"/>
              </a:defRPr>
            </a:pPr>
            <a:r>
              <a:t>Servo Barrier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94376" y="4005072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E7D"/>
                </a:solidFill>
                <a:latin typeface="Aptos"/>
              </a:defRPr>
            </a:pPr>
            <a:r>
              <a:t>Automate gate action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97496" y="2514600"/>
            <a:ext cx="1965960" cy="20574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110727" y="2761488"/>
            <a:ext cx="502920" cy="502920"/>
          </a:xfrm>
          <a:prstGeom prst="ellipse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10727" y="27614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62088" y="340156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233A"/>
                </a:solidFill>
                <a:latin typeface="Aptos"/>
              </a:defRPr>
            </a:pPr>
            <a:r>
              <a:t>LCD / Status UI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62088" y="4005072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E7D"/>
                </a:solidFill>
                <a:latin typeface="Aptos"/>
              </a:defRPr>
            </a:pPr>
            <a:r>
              <a:t>Show live availability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65208" y="2514600"/>
            <a:ext cx="1965960" cy="20574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378440" y="2761488"/>
            <a:ext cx="502920" cy="502920"/>
          </a:xfrm>
          <a:prstGeom prst="ellipse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378440" y="27614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340156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233A"/>
                </a:solidFill>
                <a:latin typeface="Aptos"/>
              </a:defRPr>
            </a:pPr>
            <a:r>
              <a:t>IoT Layer*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29800" y="4005072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E7D"/>
                </a:solidFill>
                <a:latin typeface="Aptos"/>
              </a:defRPr>
            </a:pPr>
            <a:r>
              <a:t>Remote monitoring &amp; analytics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5074920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5F6E7D"/>
                </a:solidFill>
                <a:latin typeface="Aptos"/>
              </a:defRPr>
            </a:pPr>
            <a:r>
              <a:t>*IoT connectivity can be added when remote monitoring is required.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Hardware Requirements &amp; Software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Prototype components and development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94560"/>
            <a:ext cx="5120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94560"/>
            <a:ext cx="64008" cy="29260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3134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97480"/>
            <a:ext cx="48463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Arduino board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IR sensors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Servo motor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16×2 I2C LCD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Breadboard + jumper wires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194560"/>
            <a:ext cx="5120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194560"/>
            <a:ext cx="64008" cy="292608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3134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SOFTWARE / FUTURE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697480"/>
            <a:ext cx="48463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Arduino IDE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Embedded C/C++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Optional cloud database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Mobile dashboard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AI/computer vision extension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HARDWARE &amp; SOFTWARE REQUIREMENTS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Keep the stack simple, low-cost and scalable.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2331720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2331720"/>
            <a:ext cx="64008" cy="566928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2423160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Arduino UNO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2770632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Main controller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7528" y="24048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4AEBE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044952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3044952"/>
            <a:ext cx="64008" cy="566928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" y="3136392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IR / Ultrasonic Sensors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" y="3483864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Vehicle / slot detection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7528" y="31181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4AEBE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3758183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3758183"/>
            <a:ext cx="64008" cy="566928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7" y="3849623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Servo Motor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7" y="4197096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Gate mechanism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7528" y="3831335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4AEBE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471416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" y="4471416"/>
            <a:ext cx="64008" cy="566928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7" y="4562855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LCD + I2C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7" y="4910327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Status display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67528" y="45445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4AEBE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184648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5184648"/>
            <a:ext cx="64008" cy="566928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7" y="5276088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Breadboard + Wires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7" y="5623560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Prototype assembly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67528" y="525780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4AEBE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63640" y="2331720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63640" y="2331720"/>
            <a:ext cx="64008" cy="566928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7" y="2423160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Arduino IDE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4807" y="2770632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Programming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91088" y="24048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63640" y="3044952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63640" y="3044952"/>
            <a:ext cx="64008" cy="566928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64807" y="3136392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Embedded C/C++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64807" y="3483864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Control logic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91088" y="31181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3758183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3758183"/>
            <a:ext cx="64008" cy="566928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64807" y="3849623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I2C Library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64807" y="4197096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LCD communication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91088" y="3831335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63640" y="4471416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63640" y="4471416"/>
            <a:ext cx="64008" cy="566928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7" y="4562855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Serial Monitor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64807" y="4910327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Debugging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91088" y="45445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63640" y="5184648"/>
            <a:ext cx="5257800" cy="56692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63640" y="5184648"/>
            <a:ext cx="64008" cy="566928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64807" y="5276088"/>
            <a:ext cx="4937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Optional IoT Platform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64807" y="5623560"/>
            <a:ext cx="4937760" cy="36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Remote dashboard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525780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Input and Expected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From physical events to visible system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240280"/>
            <a:ext cx="3200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240280"/>
            <a:ext cx="64008" cy="219456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3591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743200"/>
            <a:ext cx="2926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Vehicle detected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Entry / Exit event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Sensor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2240280"/>
            <a:ext cx="3200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2240280"/>
            <a:ext cx="64008" cy="21945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7952" y="23591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2743200"/>
            <a:ext cx="2926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Arduino logic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Slot availability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Gate 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2240280"/>
            <a:ext cx="3200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2240280"/>
            <a:ext cx="64008" cy="219456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6952" y="23591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2743200"/>
            <a:ext cx="2926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Servo movement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LCD status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Updated slots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548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Exception: when no slot is available, the system indicates “Parking Full”.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INPUT → DECISION →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The system turns sensor signals into a visible parking decision.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2560320"/>
            <a:ext cx="2926080" cy="18288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5840" y="2834640"/>
            <a:ext cx="411480" cy="41148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276148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342900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19232D"/>
                </a:solidFill>
                <a:latin typeface="Aptos"/>
              </a:defRPr>
            </a:pPr>
            <a:r>
              <a:t>Sensor state</a:t>
            </a:r>
            <a:br/>
            <a:r>
              <a:t>Vehicle detected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4760" y="315468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5F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2560320"/>
            <a:ext cx="2926080" cy="18288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00600" y="2834640"/>
            <a:ext cx="411480" cy="411480"/>
          </a:xfrm>
          <a:prstGeom prst="ellipse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276148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342900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19232D"/>
                </a:solidFill>
                <a:latin typeface="Aptos"/>
              </a:defRPr>
            </a:pPr>
            <a:r>
              <a:t>Availability check</a:t>
            </a:r>
            <a:br/>
            <a:r>
              <a:t>Controller logic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315468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5F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2560320"/>
            <a:ext cx="2926080" cy="182880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95360" y="2834640"/>
            <a:ext cx="411480" cy="411480"/>
          </a:xfrm>
          <a:prstGeom prst="ellipse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276148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42900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19232D"/>
                </a:solidFill>
                <a:latin typeface="Aptos"/>
              </a:defRPr>
            </a:pPr>
            <a:r>
              <a:t>Gate + LCD</a:t>
            </a:r>
            <a:br/>
            <a:r>
              <a:t>Updated status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5074920"/>
            <a:ext cx="9692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233A"/>
                </a:solidFill>
                <a:latin typeface="Aptos"/>
              </a:defRPr>
            </a:pPr>
            <a:r>
              <a:t>Example: 3 slots free → vehicle arrives → gate opens → count/status updates.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Design Methodology: Algorithm &amp; System Flow &amp; Flowchart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Simple event-driven control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42316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4088" y="2560320"/>
            <a:ext cx="384048" cy="38404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2587752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58775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437"/>
                </a:solidFill>
              </a:defRPr>
            </a:pPr>
            <a:r>
              <a:t>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08152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IR entry/exit</a:t>
            </a:r>
          </a:p>
        </p:txBody>
      </p:sp>
      <p:sp>
        <p:nvSpPr>
          <p:cNvPr id="26" name="Chevron 25"/>
          <p:cNvSpPr/>
          <p:nvPr/>
        </p:nvSpPr>
        <p:spPr>
          <a:xfrm>
            <a:off x="2596896" y="2953512"/>
            <a:ext cx="146304" cy="384048"/>
          </a:xfrm>
          <a:prstGeom prst="chevro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88920" y="242316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898648" y="2560320"/>
            <a:ext cx="384048" cy="38404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98648" y="2587752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58775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437"/>
                </a:solidFill>
              </a:defRPr>
            </a:pPr>
            <a:r>
              <a:t>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3512" y="308152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Check slots</a:t>
            </a:r>
          </a:p>
        </p:txBody>
      </p:sp>
      <p:sp>
        <p:nvSpPr>
          <p:cNvPr id="32" name="Chevron 31"/>
          <p:cNvSpPr/>
          <p:nvPr/>
        </p:nvSpPr>
        <p:spPr>
          <a:xfrm>
            <a:off x="4791455" y="2953512"/>
            <a:ext cx="146304" cy="384048"/>
          </a:xfrm>
          <a:prstGeom prst="chevro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83480" y="242316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93208" y="2560320"/>
            <a:ext cx="384048" cy="38404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3208" y="2587752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258775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437"/>
                </a:solidFill>
              </a:defRPr>
            </a:pPr>
            <a:r>
              <a:t>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8072" y="308152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Servo gate</a:t>
            </a:r>
          </a:p>
        </p:txBody>
      </p:sp>
      <p:sp>
        <p:nvSpPr>
          <p:cNvPr id="38" name="Chevron 37"/>
          <p:cNvSpPr/>
          <p:nvPr/>
        </p:nvSpPr>
        <p:spPr>
          <a:xfrm>
            <a:off x="6986016" y="2953512"/>
            <a:ext cx="146304" cy="384048"/>
          </a:xfrm>
          <a:prstGeom prst="chevro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78040" y="242316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87768" y="2560320"/>
            <a:ext cx="384048" cy="38404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87768" y="2587752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58775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437"/>
                </a:solidFill>
              </a:defRPr>
            </a:pPr>
            <a:r>
              <a:t>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42631" y="308152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Slot count</a:t>
            </a:r>
          </a:p>
        </p:txBody>
      </p:sp>
      <p:sp>
        <p:nvSpPr>
          <p:cNvPr id="44" name="Chevron 43"/>
          <p:cNvSpPr/>
          <p:nvPr/>
        </p:nvSpPr>
        <p:spPr>
          <a:xfrm>
            <a:off x="9180576" y="2953512"/>
            <a:ext cx="146304" cy="384048"/>
          </a:xfrm>
          <a:prstGeom prst="chevro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72600" y="242316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82328" y="2560320"/>
            <a:ext cx="384048" cy="38404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82328" y="2587752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258775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437"/>
                </a:solidFill>
              </a:defRPr>
            </a:pPr>
            <a:r>
              <a:t>Show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7192" y="308152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LCD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443484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1. Start system and initialize LCD, sensors and servo.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2. Detect vehicle at entry sensor.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3. If slots &gt; 0 → open gate → vehicle passes → reduce slot count.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4. Detect vehicle at exit sensor → open gate → vehicle passes → increase slot count.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5. Reset gate and continue monitoring continuously.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DESIGN METHODOLOGY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Algorithm + architecture + flow — designed for a clear demo.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2743200"/>
            <a:ext cx="1417320" cy="1143000"/>
          </a:xfrm>
          <a:prstGeom prst="round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2971800"/>
            <a:ext cx="1234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4248" y="303580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77439" y="2743200"/>
            <a:ext cx="1417320" cy="1143000"/>
          </a:xfrm>
          <a:prstGeom prst="round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68879" y="2971800"/>
            <a:ext cx="1234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READ</a:t>
            </a:r>
            <a:br/>
            <a:r>
              <a:t>SENSORS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58768" y="303580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51959" y="2743200"/>
            <a:ext cx="1417320" cy="1143000"/>
          </a:xfrm>
          <a:prstGeom prst="round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3399" y="2971800"/>
            <a:ext cx="1234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  <a:br/>
            <a:r>
              <a:t>SLOTS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33288" y="303580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26479" y="2743200"/>
            <a:ext cx="1417320" cy="1143000"/>
          </a:xfrm>
          <a:prstGeom prst="round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19" y="2971800"/>
            <a:ext cx="1234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OPEN / BLOCK</a:t>
            </a:r>
            <a:br/>
            <a:r>
              <a:t>GATE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07808" y="303580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01000" y="2743200"/>
            <a:ext cx="1417320" cy="1143000"/>
          </a:xfrm>
          <a:prstGeom prst="roundRect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2971800"/>
            <a:ext cx="1234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UPDATE</a:t>
            </a:r>
            <a:br/>
            <a:r>
              <a:t>DISPLAY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82328" y="303580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F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875520" y="2743200"/>
            <a:ext cx="1417320" cy="1143000"/>
          </a:xfrm>
          <a:prstGeom prst="round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66960" y="2971800"/>
            <a:ext cx="1234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434340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2233A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03120" y="4297680"/>
            <a:ext cx="9052560" cy="64008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31720" y="4416552"/>
            <a:ext cx="8595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32D"/>
                </a:solidFill>
                <a:latin typeface="Aptos"/>
              </a:defRPr>
            </a:pPr>
            <a:r>
              <a:t>IF slot available → allow entry &amp; update count     |     ELSE → keep gate closed &amp; show “FULL”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Implementation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Review-I status of the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48840"/>
            <a:ext cx="64008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System concept and workflow finalized.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Core hardware components identified and mapped to functions.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Entry/exit sensing logic and slot-counting logic prepared.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148840"/>
            <a:ext cx="64008" cy="32461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SYSTEM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Servo gate and LCD status display integrated at prototype level.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Next step: physical calibration, repeated testing and performance measurement.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IMPLEMENTATION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Review-I snapshot — move from individual modules to integration.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24231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2233A"/>
                </a:solidFill>
                <a:latin typeface="Aptos"/>
              </a:defRPr>
            </a:pPr>
            <a:r>
              <a:t>Circuit &amp; power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2450591"/>
            <a:ext cx="6126480" cy="219456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063240" y="2450591"/>
            <a:ext cx="6126480" cy="219456"/>
          </a:xfrm>
          <a:prstGeom prst="round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240487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4AEBE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24048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12233A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1089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2233A"/>
                </a:solidFill>
                <a:latin typeface="Aptos"/>
              </a:defRPr>
            </a:pPr>
            <a:r>
              <a:t>Sensor detection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3136391"/>
            <a:ext cx="6126480" cy="219456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063240" y="3136391"/>
            <a:ext cx="6126480" cy="219456"/>
          </a:xfrm>
          <a:prstGeom prst="round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309067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969BE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30906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12233A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37947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2233A"/>
                </a:solidFill>
                <a:latin typeface="Aptos"/>
              </a:defRPr>
            </a:pPr>
            <a:r>
              <a:t>Gate control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63240" y="3822192"/>
            <a:ext cx="6126480" cy="219456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63240" y="3822192"/>
            <a:ext cx="6126480" cy="219456"/>
          </a:xfrm>
          <a:prstGeom prst="round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4040" y="377647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7000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37764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12233A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4805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2233A"/>
                </a:solidFill>
                <a:latin typeface="Aptos"/>
              </a:defRPr>
            </a:pPr>
            <a:r>
              <a:t>Display logic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63240" y="4507992"/>
            <a:ext cx="6126480" cy="219456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063240" y="4507992"/>
            <a:ext cx="4594860" cy="219456"/>
          </a:xfrm>
          <a:prstGeom prst="roundRect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446227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7AA69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44622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12233A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1663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2233A"/>
                </a:solidFill>
                <a:latin typeface="Aptos"/>
              </a:defRPr>
            </a:pPr>
            <a:r>
              <a:t>IoT dashboard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063240" y="5193792"/>
            <a:ext cx="6126480" cy="219456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063240" y="5193792"/>
            <a:ext cx="1531620" cy="219456"/>
          </a:xfrm>
          <a:prstGeom prst="round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64040" y="514807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233A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81360" y="51480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12233A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Completed Module Demonstration &amp; Sample Output (if any)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Expected prototype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240280"/>
            <a:ext cx="3931920" cy="2331720"/>
          </a:xfrm>
          <a:prstGeom prst="roundRect">
            <a:avLst/>
          </a:prstGeom>
          <a:solidFill>
            <a:srgbClr val="E6F4EB"/>
          </a:solidFill>
          <a:ln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56032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2437"/>
                </a:solidFill>
                <a:latin typeface="Consolas" panose="020B0609020204030204"/>
              </a:defRPr>
            </a:pPr>
            <a:r>
              <a:t>WELCOME!</a:t>
            </a:r>
          </a:p>
          <a:p>
            <a:pPr algn="ctr">
              <a:defRPr sz="2200" b="1">
                <a:solidFill>
                  <a:srgbClr val="142437"/>
                </a:solidFill>
                <a:latin typeface="Consolas" panose="020B0609020204030204"/>
              </a:defRPr>
            </a:pPr>
            <a:r>
              <a:t>Slot Left: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24028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ENTRY DETECTED → “WELCOME!” → Gate opens → Slot count decreases.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EXIT DETECTED → Gate opens → Slot count increases.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NO SPACE → “PARKING FULL” → Entry remains blocked.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LCD provides a simple real-time user interface.</a:t>
            </a:r>
          </a:p>
          <a:p>
            <a:pPr>
              <a:spcAft>
                <a:spcPts val="900"/>
              </a:spcAft>
              <a:defRPr sz="1300">
                <a:solidFill>
                  <a:srgbClr val="142437"/>
                </a:solidFill>
                <a:latin typeface="Aptos"/>
              </a:defRPr>
            </a:pPr>
            <a:r>
              <a:t>• Sample demonstration follows the Arduino parking concept shown in the reference video.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COMPLETED MODULE DEMONSTRATION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Show the prototype as a sequence — not just a circuit.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240280"/>
            <a:ext cx="6537960" cy="3154680"/>
          </a:xfrm>
          <a:prstGeom prst="roundRect">
            <a:avLst/>
          </a:prstGeom>
          <a:solidFill>
            <a:srgbClr val="21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2606040"/>
            <a:ext cx="1554480" cy="960120"/>
          </a:xfrm>
          <a:prstGeom prst="roundRect">
            <a:avLst/>
          </a:prstGeom>
          <a:solidFill>
            <a:srgbClr val="323D4A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26974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081528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DC4646"/>
                </a:solidFill>
                <a:latin typeface="Aptos"/>
              </a:defRPr>
            </a:pPr>
            <a:r>
              <a:t>FULL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2606040"/>
            <a:ext cx="1554480" cy="960120"/>
          </a:xfrm>
          <a:prstGeom prst="roundRect">
            <a:avLst/>
          </a:prstGeom>
          <a:solidFill>
            <a:srgbClr val="323D4A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26974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3081528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DC4646"/>
                </a:solidFill>
                <a:latin typeface="Aptos"/>
              </a:defRPr>
            </a:pPr>
            <a:r>
              <a:t>FULL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2606040"/>
            <a:ext cx="1554480" cy="960120"/>
          </a:xfrm>
          <a:prstGeom prst="roundRect">
            <a:avLst/>
          </a:prstGeom>
          <a:solidFill>
            <a:srgbClr val="323D4A"/>
          </a:solidFill>
          <a:ln>
            <a:solidFill>
              <a:srgbClr val="27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59" y="26974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59" y="3081528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7AA69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3931920"/>
            <a:ext cx="1554480" cy="960120"/>
          </a:xfrm>
          <a:prstGeom prst="roundRect">
            <a:avLst/>
          </a:prstGeom>
          <a:solidFill>
            <a:srgbClr val="323D4A"/>
          </a:solidFill>
          <a:ln>
            <a:solidFill>
              <a:srgbClr val="27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023359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407408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7AA69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80360" y="3931920"/>
            <a:ext cx="1554480" cy="960120"/>
          </a:xfrm>
          <a:prstGeom prst="roundRect">
            <a:avLst/>
          </a:prstGeom>
          <a:solidFill>
            <a:srgbClr val="323D4A"/>
          </a:solidFill>
          <a:ln>
            <a:solidFill>
              <a:srgbClr val="27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4023359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407408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7AA69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3931920"/>
            <a:ext cx="1554480" cy="960120"/>
          </a:xfrm>
          <a:prstGeom prst="roundRect">
            <a:avLst/>
          </a:prstGeom>
          <a:solidFill>
            <a:srgbClr val="323D4A"/>
          </a:solidFill>
          <a:ln>
            <a:solidFill>
              <a:srgbClr val="27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37759" y="4023359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59" y="4407408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7AA69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43800" y="2331720"/>
            <a:ext cx="3977639" cy="1325880"/>
          </a:xfrm>
          <a:prstGeom prst="round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8120" y="2542032"/>
            <a:ext cx="3429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4AEBE"/>
                </a:solidFill>
                <a:latin typeface="Aptos"/>
              </a:defRPr>
            </a:pPr>
            <a:r>
              <a:t>LCD /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2926080"/>
            <a:ext cx="3429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WELCOME   |   FREE: 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43800" y="3886200"/>
            <a:ext cx="3977639" cy="132588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18120" y="4096512"/>
            <a:ext cx="3429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F6E7D"/>
                </a:solidFill>
                <a:latin typeface="Aptos"/>
              </a:defRPr>
            </a:pPr>
            <a:r>
              <a:t>GATE 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4462272"/>
            <a:ext cx="3429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7AA69"/>
                </a:solidFill>
                <a:latin typeface="Aptos"/>
              </a:defRPr>
            </a:pPr>
            <a:r>
              <a:t>OPEN → VEHICLE ENTRY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Individual Team Member 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Suggested review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48840"/>
            <a:ext cx="64008" cy="14173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2677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Member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51760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Hardware assembly, wiring and sensor placement.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21488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2148840"/>
            <a:ext cx="64008" cy="14173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22677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Member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2651760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Arduino programming, gate-control and slot-count logic.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84048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3840480"/>
            <a:ext cx="64008" cy="14173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395935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Member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4343400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LCD interface, testing and sample-output documentation.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84048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3840480"/>
            <a:ext cx="64008" cy="14173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395935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Member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2" y="4343400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IoT/AI enhancement study, PPT, report and presentation.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142437"/>
                </a:solidFill>
                <a:latin typeface="Aptos"/>
              </a:defRPr>
            </a:pPr>
            <a:r>
              <a:t>• Replace these roles with the team's actual contribution before submission.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INDIVIDUAL TEAM MEMBER CONTRIBUTION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Assign ownership so every member can explain one module confidently.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246888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2468880"/>
            <a:ext cx="64008" cy="105156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256032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Member 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290779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Circuit &amp; sensor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67528" y="25420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4AE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246888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2468880"/>
            <a:ext cx="64008" cy="1051560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7" y="256032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Member 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7" y="290779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Arduino logic &amp; gate control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99648" y="25420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379476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3794760"/>
            <a:ext cx="64008" cy="1051560"/>
          </a:xfrm>
          <a:prstGeom prst="rect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" y="388620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Member 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" y="423367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LCD / UI &amp; 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8" y="386791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AA6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379476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63640" y="3794760"/>
            <a:ext cx="64008" cy="105156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64807" y="388620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Member 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64807" y="423367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Documentation &amp; presentation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386791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700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Challenges Identified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Practical issues to watch during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48840"/>
            <a:ext cx="64008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IR sensors can produce false triggers if alignment or distance is poor.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Fast vehicle movement can cause missed or repeated detections.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Servo movement may be affected by unstable power or mechanical load.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148840"/>
            <a:ext cx="64008" cy="32461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SYSTEM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Slot count can become incorrect if entry/exit events are not synchronized.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Prototype wiring must be protected from loose connections and noise.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CHALLENGES IDENTIFIED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Prototype problems are part of the engineering story.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46888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2468880"/>
            <a:ext cx="64008" cy="1051560"/>
          </a:xfrm>
          <a:prstGeom prst="rect">
            <a:avLst/>
          </a:prstGeom>
          <a:solidFill>
            <a:srgbClr val="D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256032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False sensor triggers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290779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Alignment, distance and ambient conditions can affect detection.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7528" y="25420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DC4646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246888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468880"/>
            <a:ext cx="64008" cy="105156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7" y="256032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Gate timing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7" y="290779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Servo should open long enough for safe vehicle movement.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99648" y="25420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7000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79476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3794760"/>
            <a:ext cx="64008" cy="1051560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388620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Count mismatch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423367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Entry/exit events must be synchronized with slot state.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7528" y="386791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3794760"/>
            <a:ext cx="5166360" cy="10515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794760"/>
            <a:ext cx="64008" cy="1051560"/>
          </a:xfrm>
          <a:prstGeom prst="rect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4807" y="388620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Wiring complexity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7" y="4233672"/>
            <a:ext cx="48463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Multiple sensors increase debugging effort.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386791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AA69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Proposed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How the design can become more reliable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48840"/>
            <a:ext cx="64008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Calibrate sensor position and detection distance before deployment.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Use short validation delays/debouncing to confirm vehicle presence.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Provide stable power for the controller and servo.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148840"/>
            <a:ext cx="64008" cy="32461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SYSTEM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Use clear entry/exit sequencing and state flags to avoid double counting.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Future: add ultrasonic/vision verification, cloud logging and mobile notifications.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PROPOSED SOLUTIONS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Make the next iteration more reliable and more connected.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606040"/>
            <a:ext cx="2423160" cy="1874519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2606040"/>
            <a:ext cx="64008" cy="1874519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269748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Debounce +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044952"/>
            <a:ext cx="2103120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Ignore unstable sensor readings.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24328" y="267919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4AEB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2606040"/>
            <a:ext cx="2423160" cy="1874519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74720" y="2606040"/>
            <a:ext cx="64008" cy="1874519"/>
          </a:xfrm>
          <a:prstGeom prst="rect">
            <a:avLst/>
          </a:prstGeom>
          <a:solidFill>
            <a:srgbClr val="1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5887" y="269748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Calibrated thresholds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5887" y="3044952"/>
            <a:ext cx="2103120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Tune sensor distance and placement.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7527" y="267919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69B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2606040"/>
            <a:ext cx="2423160" cy="1874519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2606040"/>
            <a:ext cx="64008" cy="1874519"/>
          </a:xfrm>
          <a:prstGeom prst="rect">
            <a:avLst/>
          </a:prstGeom>
          <a:solidFill>
            <a:srgbClr val="27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269748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State-machine logic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3044952"/>
            <a:ext cx="2103120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Track ENTER / EXIT / IDLE states.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0727" y="267919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AA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1120" y="2606040"/>
            <a:ext cx="2423160" cy="1874519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61120" y="2606040"/>
            <a:ext cx="64008" cy="1874519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62288" y="269748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233A"/>
                </a:solidFill>
                <a:latin typeface="Aptos"/>
              </a:defRPr>
            </a:pPr>
            <a:r>
              <a:t>IoT dashboard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2288" y="3044952"/>
            <a:ext cx="2103120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9232D"/>
                </a:solidFill>
                <a:latin typeface="Aptos"/>
              </a:defRPr>
            </a:pPr>
            <a:r>
              <a:t>Add remote slot monitoring and history.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3928" y="267919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700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50749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233A"/>
                </a:solidFill>
                <a:latin typeface="Aptos"/>
              </a:defRPr>
            </a:pPr>
            <a:r>
              <a:t>NEXT VERSION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5440680"/>
            <a:ext cx="8412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4AEBE"/>
                </a:solidFill>
                <a:latin typeface="Aptos"/>
              </a:defRPr>
            </a:pPr>
            <a:r>
              <a:t>Sensors → Controller → Cloud → Mobile / Web 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45"/>
            <a:ext cx="1402080" cy="1240191"/>
          </a:xfrm>
          <a:prstGeom prst="rect">
            <a:avLst/>
          </a:prstGeom>
        </p:spPr>
      </p:pic>
      <p:sp>
        <p:nvSpPr>
          <p:cNvPr id="15" name="object 4"/>
          <p:cNvSpPr/>
          <p:nvPr/>
        </p:nvSpPr>
        <p:spPr>
          <a:xfrm>
            <a:off x="1402080" y="-3977"/>
            <a:ext cx="10789920" cy="1246614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1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8941" y="-19751"/>
            <a:ext cx="5284388" cy="1559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r>
              <a:rPr lang="en-US" alt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Aditya University</a:t>
            </a:r>
            <a:endParaRPr lang="en-US" altLang="zh-CN" sz="3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School of Computing 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defRPr/>
            </a:pPr>
            <a:r>
              <a:rPr lang="en-US" altLang="zh-CN" sz="2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of Computer Applications</a:t>
            </a:r>
            <a:endParaRPr lang="en-US" altLang="zh-CN" sz="20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375"/>
              </a:spcBef>
              <a:buClr>
                <a:srgbClr val="000000"/>
              </a:buClr>
              <a:defRPr/>
            </a:pPr>
            <a:endParaRPr lang="en-US" altLang="zh-CN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7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7190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Smart parking with a clear path to intelligent parking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148840"/>
            <a:ext cx="64008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The prototype automates the essential parking workflow: detect → decide → open/close → count → display.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Arduino provides the control layer while sensors and servo handle the physical interaction.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14884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148840"/>
            <a:ext cx="64008" cy="324612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2677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437"/>
                </a:solidFill>
                <a:latin typeface="Aptos"/>
              </a:defRPr>
            </a:pPr>
            <a:r>
              <a:t>SYSTEM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6517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The modular design is low-cost, easy to demonstrate and suitable for further expansion.</a:t>
            </a:r>
          </a:p>
          <a:p>
            <a:pPr>
              <a:spcAft>
                <a:spcPts val="5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Future AI/IoT upgrades can support occupancy prediction, navigation, analytics and remote monitoring.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252728"/>
            <a:ext cx="12191695" cy="5605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141732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2233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874519"/>
            <a:ext cx="9966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F6E7D"/>
                </a:solidFill>
                <a:latin typeface="Aptos"/>
              </a:defRPr>
            </a:pPr>
            <a:r>
              <a:t>A small prototype demonstrates a scalable smart-city idea.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2423160"/>
            <a:ext cx="3246120" cy="2194560"/>
          </a:xfrm>
          <a:prstGeom prst="round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2788920"/>
            <a:ext cx="2788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4AEBE"/>
                </a:solidFill>
                <a:latin typeface="Aptos"/>
              </a:defRPr>
            </a:pPr>
            <a:r>
              <a:t>SMARTER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337560"/>
            <a:ext cx="2788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Parking decisions</a:t>
            </a:r>
            <a:br/>
            <a:r>
              <a:t>based on live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2423160"/>
            <a:ext cx="3246120" cy="2194560"/>
          </a:xfrm>
          <a:prstGeom prst="round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2788920"/>
            <a:ext cx="2788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7AA69"/>
                </a:solidFill>
                <a:latin typeface="Aptos"/>
              </a:defRPr>
            </a:pPr>
            <a:r>
              <a:t>FASTER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3337560"/>
            <a:ext cx="2788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Less searching</a:t>
            </a:r>
            <a:br/>
            <a:r>
              <a:t>and smoother entry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2423160"/>
            <a:ext cx="3246120" cy="2194560"/>
          </a:xfrm>
          <a:prstGeom prst="round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2788920"/>
            <a:ext cx="2788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7000"/>
                </a:solidFill>
                <a:latin typeface="Aptos"/>
              </a:defRPr>
            </a:pPr>
            <a:r>
              <a:t>SCALABLE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337560"/>
            <a:ext cx="2788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Ready for IoT,</a:t>
            </a:r>
            <a:br/>
            <a:r>
              <a:t>analytics and apps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166360"/>
            <a:ext cx="8412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DEMO MESSAGE  •  SENSE → DECIDE → ACT → UPDATE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44200" y="6419088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F6E7D"/>
                </a:solidFill>
                <a:latin typeface="Aptos"/>
              </a:defRPr>
            </a:pPr>
            <a:r>
              <a:t>NEXT  ›</a:t>
            </a:r>
          </a:p>
        </p:txBody>
      </p:sp>
      <p:pic>
        <p:nvPicPr>
          <p:cNvPr id="2" name="Picture 1" descr="🎉 Introducing the emblem of @Aditya_University - a symbol of our  commitment to excellence, innovation, and growth!, #AdityaUniversity  #Emblem #University #LogoReveal #Symbol #Education #Innovation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29445"/>
            <a:ext cx="1402080" cy="12401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12230</Words>
  <Application>WPS Presentation</Application>
  <PresentationFormat>Widescreen</PresentationFormat>
  <Paragraphs>1013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Arial</vt:lpstr>
      <vt:lpstr>Aptos</vt:lpstr>
      <vt:lpstr>Segoe UI</vt:lpstr>
      <vt:lpstr>Times New Roman</vt:lpstr>
      <vt:lpstr>Verdana</vt:lpstr>
      <vt:lpstr>Aptos Display</vt:lpstr>
      <vt:lpstr>Segoe UI Variable Display</vt:lpstr>
      <vt:lpstr>Calibri</vt:lpstr>
      <vt:lpstr>Microsoft YaHei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RAJAMOHAN P</dc:creator>
  <dc:description>generated using python-pptx</dc:description>
  <cp:lastModifiedBy>Sindhuja Vema</cp:lastModifiedBy>
  <cp:revision>6</cp:revision>
  <dcterms:created xsi:type="dcterms:W3CDTF">2013-01-27T09:14:00Z</dcterms:created>
  <dcterms:modified xsi:type="dcterms:W3CDTF">2026-08-26T13:15:35Z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A198DFDD8A1649D6ADADF5BF7011857F_13</vt:lpwstr>
  </property>
</Properties>
</file>